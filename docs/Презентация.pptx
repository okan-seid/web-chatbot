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44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1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1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6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5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7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7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2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5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E9BA542-2635-4C65-BCBE-0FA26AF0247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CA6434-754F-483A-BD4C-AB69B159C34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46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2DF0-550A-76E9-C0C0-BACAF5F0D8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8CBE8-E3B0-E91A-579E-C09F3BF13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84700"/>
            <a:ext cx="10058400" cy="13843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bg-BG" sz="3500" b="1" dirty="0">
                <a:solidFill>
                  <a:schemeClr val="tx1"/>
                </a:solidFill>
              </a:rPr>
              <a:t>Разработване на уеб чат бот за новинарски сайт – </a:t>
            </a:r>
            <a:r>
              <a:rPr lang="en-US" sz="3500" b="1" dirty="0">
                <a:solidFill>
                  <a:schemeClr val="tx1"/>
                </a:solidFill>
              </a:rPr>
              <a:t>razgradnews.net</a:t>
            </a:r>
          </a:p>
          <a:p>
            <a:pPr algn="ctr"/>
            <a:r>
              <a:rPr lang="bg-BG" sz="2600" dirty="0">
                <a:solidFill>
                  <a:schemeClr val="tx1"/>
                </a:solidFill>
              </a:rPr>
              <a:t>Окан сеид, 121219017</a:t>
            </a:r>
            <a:endParaRPr lang="en-US" sz="2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CEC38B-FBF2-AB64-5550-C16FC4134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460259"/>
            <a:ext cx="10548242" cy="39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40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4172-4908-89B7-FC2C-FA06A96F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5400" dirty="0"/>
              <a:t>Същност и функции на чатбота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AB4C1-5831-C8B5-E92B-AA30C0D35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005320" cy="4023360"/>
          </a:xfrm>
        </p:spPr>
        <p:txBody>
          <a:bodyPr/>
          <a:lstStyle/>
          <a:p>
            <a:r>
              <a:rPr lang="bg-BG" dirty="0"/>
              <a:t>Чатботът представлява </a:t>
            </a:r>
            <a:r>
              <a:rPr lang="en-US" dirty="0"/>
              <a:t>full-stack </a:t>
            </a:r>
            <a:r>
              <a:rPr lang="bg-BG" dirty="0"/>
              <a:t>уеб приложение, в което потребителят в графичния интерфейс може да въвежда свои съобщения като заявки към чатбота, на които той да отговаря</a:t>
            </a:r>
            <a:r>
              <a:rPr lang="en-US" dirty="0"/>
              <a:t> </a:t>
            </a:r>
            <a:r>
              <a:rPr lang="bg-BG" dirty="0"/>
              <a:t>в реално време с подходящ отговор, съдържащ информация от сайта</a:t>
            </a:r>
            <a:r>
              <a:rPr lang="en-US" dirty="0"/>
              <a:t>.</a:t>
            </a:r>
          </a:p>
          <a:p>
            <a:r>
              <a:rPr lang="bg-BG" dirty="0"/>
              <a:t>Потребителят може да търси най-актуалните новини от началната страница или до последните 10 новини по категории</a:t>
            </a:r>
            <a:r>
              <a:rPr lang="en-US" dirty="0"/>
              <a:t> </a:t>
            </a:r>
            <a:r>
              <a:rPr lang="bg-BG" dirty="0"/>
              <a:t>като резултатите се визуализират с кликаеми линкове</a:t>
            </a:r>
            <a:r>
              <a:rPr lang="en-US" dirty="0"/>
              <a:t>.</a:t>
            </a:r>
          </a:p>
          <a:p>
            <a:r>
              <a:rPr lang="bg-BG" dirty="0"/>
              <a:t>Чатботът</a:t>
            </a:r>
            <a:r>
              <a:rPr lang="en-US" dirty="0"/>
              <a:t> </a:t>
            </a:r>
            <a:r>
              <a:rPr lang="bg-BG" dirty="0"/>
              <a:t>работи на база на предварително зададен набор от правила и логика, с които открива ключови думи</a:t>
            </a:r>
            <a:r>
              <a:rPr lang="en-US" dirty="0"/>
              <a:t> </a:t>
            </a:r>
            <a:r>
              <a:rPr lang="bg-BG" dirty="0"/>
              <a:t>и фрази в потребителската заявка</a:t>
            </a:r>
            <a:r>
              <a:rPr lang="en-US" dirty="0"/>
              <a:t>.</a:t>
            </a:r>
          </a:p>
          <a:p>
            <a:r>
              <a:rPr lang="bg-BG" dirty="0"/>
              <a:t>Поддържа се както български, така и английски език</a:t>
            </a:r>
            <a:r>
              <a:rPr lang="en-US" dirty="0"/>
              <a:t>.</a:t>
            </a:r>
            <a:endParaRPr lang="bg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37966F-0F04-D4B4-4AAD-9540DEB41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174" y="1845734"/>
            <a:ext cx="3109826" cy="43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F73A-4326-EBD7-3DEC-92A7E49A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84816"/>
          </a:xfrm>
        </p:spPr>
        <p:txBody>
          <a:bodyPr>
            <a:normAutofit/>
          </a:bodyPr>
          <a:lstStyle/>
          <a:p>
            <a:pPr algn="ctr"/>
            <a:r>
              <a:rPr lang="bg-BG" sz="5400" dirty="0"/>
              <a:t>Използвани технологии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038D3-BC3B-1C02-CC95-C45E41641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1903797"/>
            <a:ext cx="5269230" cy="4053706"/>
          </a:xfrm>
        </p:spPr>
        <p:txBody>
          <a:bodyPr>
            <a:normAutofit/>
          </a:bodyPr>
          <a:lstStyle/>
          <a:p>
            <a:r>
              <a:rPr lang="bg-BG" dirty="0"/>
              <a:t>Програмният език </a:t>
            </a:r>
            <a:r>
              <a:rPr lang="en-US" dirty="0"/>
              <a:t>Python </a:t>
            </a:r>
            <a:r>
              <a:rPr lang="bg-BG" dirty="0"/>
              <a:t>е изключително подходящ за </a:t>
            </a:r>
            <a:r>
              <a:rPr lang="en-US" dirty="0"/>
              <a:t>web scraping </a:t>
            </a:r>
            <a:r>
              <a:rPr lang="bg-BG" dirty="0"/>
              <a:t>на публично съдържание от интернет</a:t>
            </a:r>
            <a:r>
              <a:rPr lang="en-US" dirty="0"/>
              <a:t> </a:t>
            </a:r>
            <a:r>
              <a:rPr lang="bg-BG" dirty="0"/>
              <a:t>с помощта на библиотеките</a:t>
            </a:r>
            <a:r>
              <a:rPr lang="en-US" dirty="0"/>
              <a:t> Requests </a:t>
            </a:r>
            <a:r>
              <a:rPr lang="bg-BG" dirty="0"/>
              <a:t>и </a:t>
            </a:r>
            <a:r>
              <a:rPr lang="en-US" dirty="0"/>
              <a:t>BeatifulSoup4.</a:t>
            </a:r>
          </a:p>
          <a:p>
            <a:r>
              <a:rPr lang="en-US" dirty="0"/>
              <a:t>NoSQL </a:t>
            </a:r>
            <a:r>
              <a:rPr lang="bg-BG" dirty="0"/>
              <a:t>базата данни </a:t>
            </a:r>
            <a:r>
              <a:rPr lang="en-US" dirty="0"/>
              <a:t>MongoDB </a:t>
            </a:r>
            <a:r>
              <a:rPr lang="bg-BG" dirty="0"/>
              <a:t>е използвана заради бързото и гъвкаво съхранение на данни под формата на </a:t>
            </a:r>
            <a:r>
              <a:rPr lang="en-US" dirty="0"/>
              <a:t>JSON </a:t>
            </a:r>
            <a:r>
              <a:rPr lang="bg-BG" dirty="0"/>
              <a:t>документи</a:t>
            </a:r>
            <a:r>
              <a:rPr lang="en-US" dirty="0"/>
              <a:t>.</a:t>
            </a:r>
          </a:p>
          <a:p>
            <a:r>
              <a:rPr lang="en-US" dirty="0"/>
              <a:t>Backend </a:t>
            </a:r>
            <a:r>
              <a:rPr lang="bg-BG" dirty="0"/>
              <a:t>приложението е реализирано в </a:t>
            </a:r>
            <a:r>
              <a:rPr lang="en-US" dirty="0"/>
              <a:t>Node.JS </a:t>
            </a:r>
            <a:r>
              <a:rPr lang="bg-BG" dirty="0"/>
              <a:t>среда с употребата на </a:t>
            </a:r>
            <a:r>
              <a:rPr lang="en-US" dirty="0"/>
              <a:t>JavaScript web application framework</a:t>
            </a:r>
            <a:r>
              <a:rPr lang="bg-BG" dirty="0"/>
              <a:t>-а </a:t>
            </a:r>
            <a:r>
              <a:rPr lang="en-US" dirty="0"/>
              <a:t>Express.</a:t>
            </a:r>
          </a:p>
          <a:p>
            <a:r>
              <a:rPr lang="en-US" dirty="0"/>
              <a:t>Frontend </a:t>
            </a:r>
            <a:r>
              <a:rPr lang="bg-BG" dirty="0"/>
              <a:t>частта е разработена</a:t>
            </a:r>
            <a:r>
              <a:rPr lang="en-US" dirty="0"/>
              <a:t> </a:t>
            </a:r>
            <a:r>
              <a:rPr lang="bg-BG" dirty="0"/>
              <a:t>с трите фундаментални уеб технологии</a:t>
            </a:r>
            <a:r>
              <a:rPr lang="en-US" dirty="0"/>
              <a:t>: HTML, CSS </a:t>
            </a:r>
            <a:r>
              <a:rPr lang="bg-BG" dirty="0"/>
              <a:t>и </a:t>
            </a:r>
            <a:r>
              <a:rPr lang="en-US" dirty="0"/>
              <a:t>JS.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67BACD-3811-6461-A711-7A1E468E0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7344"/>
            <a:ext cx="5049520" cy="1245198"/>
          </a:xfrm>
          <a:prstGeom prst="rect">
            <a:avLst/>
          </a:prstGeom>
        </p:spPr>
      </p:pic>
      <p:pic>
        <p:nvPicPr>
          <p:cNvPr id="8" name="Picture 7" descr="What Is MongoDB? - GTech">
            <a:extLst>
              <a:ext uri="{FF2B5EF4-FFF2-40B4-BE49-F238E27FC236}">
                <a16:creationId xmlns:a16="http://schemas.microsoft.com/office/drawing/2014/main" id="{699944B4-3A35-E63B-E5B1-41B8FDF95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559" y="2978771"/>
            <a:ext cx="2440402" cy="938275"/>
          </a:xfrm>
          <a:prstGeom prst="rect">
            <a:avLst/>
          </a:prstGeom>
        </p:spPr>
      </p:pic>
      <p:pic>
        <p:nvPicPr>
          <p:cNvPr id="9" name="Picture 8" descr="A sweet kick-starter to BackEnd API Development using NodeJS, ExpressJS and  MongoDB — Part 1 | by Yashvardhan Kukreja | Medium">
            <a:extLst>
              <a:ext uri="{FF2B5EF4-FFF2-40B4-BE49-F238E27FC236}">
                <a16:creationId xmlns:a16="http://schemas.microsoft.com/office/drawing/2014/main" id="{27A05F06-F37D-A2E1-1F34-2286ADA9A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464" y="3930650"/>
            <a:ext cx="2397939" cy="1136359"/>
          </a:xfrm>
          <a:prstGeom prst="rect">
            <a:avLst/>
          </a:prstGeom>
        </p:spPr>
      </p:pic>
      <p:pic>
        <p:nvPicPr>
          <p:cNvPr id="10" name="Picture 9" descr="HTML CSS JAVASCRIPT">
            <a:extLst>
              <a:ext uri="{FF2B5EF4-FFF2-40B4-BE49-F238E27FC236}">
                <a16:creationId xmlns:a16="http://schemas.microsoft.com/office/drawing/2014/main" id="{64FE3DC0-6094-E6A7-A135-805A43E84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917" y="5010150"/>
            <a:ext cx="3431032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C394-5E05-FC9E-5361-CF26D4CC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sz="5400" dirty="0"/>
              <a:t>Архитектура на чатбот системата</a:t>
            </a:r>
            <a:endParaRPr lang="en-US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5DA170-CE7B-D4A9-092D-A0B4D7BE9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4250" y="1846263"/>
            <a:ext cx="7600950" cy="419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5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89A4-FF94-57A4-4241-0BAD1996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Scraper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C5F0-21A9-555D-D8FC-42D5E056E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379970" cy="4023360"/>
          </a:xfrm>
        </p:spPr>
        <p:txBody>
          <a:bodyPr/>
          <a:lstStyle/>
          <a:p>
            <a:r>
              <a:rPr lang="bg-BG" dirty="0"/>
              <a:t>Основен файл – </a:t>
            </a:r>
            <a:r>
              <a:rPr lang="en-US" dirty="0"/>
              <a:t>scraper.py</a:t>
            </a:r>
            <a:r>
              <a:rPr lang="bg-BG" dirty="0"/>
              <a:t>, който изпълнява цялата </a:t>
            </a:r>
            <a:r>
              <a:rPr lang="en-US" dirty="0"/>
              <a:t>web scraping </a:t>
            </a:r>
            <a:r>
              <a:rPr lang="bg-BG" dirty="0"/>
              <a:t>логика</a:t>
            </a:r>
            <a:r>
              <a:rPr lang="en-US" dirty="0"/>
              <a:t>.</a:t>
            </a:r>
          </a:p>
          <a:p>
            <a:r>
              <a:rPr lang="bg-BG" dirty="0"/>
              <a:t>Достъпва уебсайта </a:t>
            </a:r>
            <a:r>
              <a:rPr lang="en-US" b="1" dirty="0"/>
              <a:t>razgradnews.net</a:t>
            </a:r>
            <a:r>
              <a:rPr lang="bg-BG" b="1" dirty="0"/>
              <a:t> </a:t>
            </a:r>
            <a:r>
              <a:rPr lang="bg-BG" dirty="0"/>
              <a:t>в реално време</a:t>
            </a:r>
            <a:r>
              <a:rPr lang="en-US" dirty="0"/>
              <a:t> </a:t>
            </a:r>
            <a:r>
              <a:rPr lang="bg-BG" dirty="0"/>
              <a:t>с помощта на </a:t>
            </a:r>
            <a:r>
              <a:rPr lang="en-US" dirty="0"/>
              <a:t>Python </a:t>
            </a:r>
            <a:r>
              <a:rPr lang="bg-BG" dirty="0"/>
              <a:t>библиотеките</a:t>
            </a:r>
            <a:r>
              <a:rPr lang="en-US" dirty="0"/>
              <a:t> requests </a:t>
            </a:r>
            <a:r>
              <a:rPr lang="bg-BG" dirty="0"/>
              <a:t>и </a:t>
            </a:r>
            <a:r>
              <a:rPr lang="en-US" dirty="0"/>
              <a:t>bs4. </a:t>
            </a:r>
            <a:r>
              <a:rPr lang="bg-BG" dirty="0"/>
              <a:t>Извлича новините от началната страница и 10-те новини от първата страница на всяка поддържана категория като филтрира всички нерелевантни за контекста на чатбота </a:t>
            </a:r>
            <a:r>
              <a:rPr lang="en-US" dirty="0"/>
              <a:t>HTML </a:t>
            </a:r>
            <a:r>
              <a:rPr lang="bg-BG" dirty="0"/>
              <a:t>елементи</a:t>
            </a:r>
            <a:r>
              <a:rPr lang="en-US" dirty="0"/>
              <a:t>.</a:t>
            </a:r>
          </a:p>
          <a:p>
            <a:r>
              <a:rPr lang="bg-BG" dirty="0"/>
              <a:t>Свързва се с базата данни чрез </a:t>
            </a:r>
            <a:r>
              <a:rPr lang="en-US" dirty="0" err="1"/>
              <a:t>PyMongo</a:t>
            </a:r>
            <a:r>
              <a:rPr lang="en-US" dirty="0"/>
              <a:t> </a:t>
            </a:r>
            <a:r>
              <a:rPr lang="bg-BG" dirty="0"/>
              <a:t>библиотека и запазва за всяка новина</a:t>
            </a:r>
            <a:r>
              <a:rPr lang="en-US" dirty="0"/>
              <a:t> </a:t>
            </a:r>
            <a:r>
              <a:rPr lang="bg-BG" dirty="0"/>
              <a:t>следните атрибути</a:t>
            </a:r>
            <a:r>
              <a:rPr lang="en-US" dirty="0"/>
              <a:t>:</a:t>
            </a:r>
          </a:p>
          <a:p>
            <a:r>
              <a:rPr lang="en-US" dirty="0" err="1"/>
              <a:t>url</a:t>
            </a:r>
            <a:r>
              <a:rPr lang="en-US" dirty="0"/>
              <a:t>, category, title, </a:t>
            </a:r>
            <a:r>
              <a:rPr lang="en-US" dirty="0" err="1"/>
              <a:t>scraped_at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/>
              <a:t>rank(</a:t>
            </a:r>
            <a:r>
              <a:rPr lang="bg-BG" dirty="0"/>
              <a:t>позиция в страницата</a:t>
            </a:r>
            <a:r>
              <a:rPr lang="en-US" dirty="0"/>
              <a:t>)</a:t>
            </a:r>
          </a:p>
          <a:p>
            <a:r>
              <a:rPr lang="bg-BG" dirty="0"/>
              <a:t>Стартира</a:t>
            </a:r>
            <a:r>
              <a:rPr lang="en-US" dirty="0"/>
              <a:t> </a:t>
            </a:r>
            <a:r>
              <a:rPr lang="bg-BG" dirty="0"/>
              <a:t>се чрез командата</a:t>
            </a:r>
            <a:r>
              <a:rPr lang="en-US" dirty="0"/>
              <a:t> – </a:t>
            </a:r>
            <a:r>
              <a:rPr lang="en-US" b="1" dirty="0"/>
              <a:t>python scraper.py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E0CD5-AA0E-F2DC-4DAA-DBCAA1A1C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770" y="1761120"/>
            <a:ext cx="1879330" cy="419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2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E891-1F50-1093-466F-2C5E7358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7CCA7-427D-12EA-4743-C63576DA2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180" y="2209800"/>
            <a:ext cx="7030720" cy="3594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Scraper </a:t>
            </a:r>
            <a:r>
              <a:rPr lang="bg-BG" dirty="0"/>
              <a:t>компонентът автоматично създава</a:t>
            </a:r>
            <a:r>
              <a:rPr lang="en-US" dirty="0"/>
              <a:t> </a:t>
            </a:r>
            <a:r>
              <a:rPr lang="bg-BG" dirty="0"/>
              <a:t>или обновява, ако вече съществува такава, база данни с име </a:t>
            </a:r>
            <a:r>
              <a:rPr lang="en-US" b="1" dirty="0"/>
              <a:t>web-chatbot</a:t>
            </a:r>
            <a:r>
              <a:rPr lang="bg-BG" dirty="0"/>
              <a:t> с колекция </a:t>
            </a:r>
            <a:r>
              <a:rPr lang="en-US" b="1" dirty="0"/>
              <a:t>news</a:t>
            </a:r>
            <a:r>
              <a:rPr lang="en-US" dirty="0"/>
              <a:t>.</a:t>
            </a:r>
          </a:p>
          <a:p>
            <a:r>
              <a:rPr lang="bg-BG" dirty="0"/>
              <a:t>При всяко изпълнение се чистят старите записи и се записват новите, за да се избегне съхранението на стари новини</a:t>
            </a:r>
            <a:r>
              <a:rPr lang="en-US" dirty="0"/>
              <a:t>/</a:t>
            </a:r>
            <a:r>
              <a:rPr lang="bg-BG" dirty="0"/>
              <a:t>данни</a:t>
            </a:r>
            <a:r>
              <a:rPr lang="en-US" dirty="0"/>
              <a:t>. </a:t>
            </a:r>
            <a:r>
              <a:rPr lang="bg-BG" dirty="0"/>
              <a:t>Целта е съхраняването само на най-скорошните новини в сайта, а не поддържането на исторически архив</a:t>
            </a:r>
            <a:r>
              <a:rPr lang="en-US" dirty="0"/>
              <a:t>.</a:t>
            </a:r>
          </a:p>
          <a:p>
            <a:r>
              <a:rPr lang="bg-BG" dirty="0"/>
              <a:t>Нужна е предварителна инсталация и конфигурация</a:t>
            </a:r>
            <a:r>
              <a:rPr lang="en-US" dirty="0"/>
              <a:t> </a:t>
            </a:r>
            <a:r>
              <a:rPr lang="bg-BG" dirty="0"/>
              <a:t>на </a:t>
            </a:r>
            <a:r>
              <a:rPr lang="en-US" dirty="0"/>
              <a:t>MongoDB Community Server </a:t>
            </a:r>
            <a:r>
              <a:rPr lang="bg-BG" dirty="0"/>
              <a:t>и използване на десктоп клиент </a:t>
            </a:r>
            <a:r>
              <a:rPr lang="en-US" dirty="0"/>
              <a:t>MongoDB Compass </a:t>
            </a:r>
            <a:r>
              <a:rPr lang="bg-BG" dirty="0"/>
              <a:t>за управление на базите данни</a:t>
            </a:r>
            <a:r>
              <a:rPr lang="en-US" dirty="0"/>
              <a:t>.</a:t>
            </a:r>
          </a:p>
          <a:p>
            <a:r>
              <a:rPr lang="bg-BG" dirty="0"/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AEC34-859B-9979-FEE0-99B344A89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1790700"/>
            <a:ext cx="1960562" cy="41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8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69F7-3114-2E9D-F6D7-4359875F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428CF-B1A1-85BA-F50B-BE0EF7DBA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602220" cy="4023360"/>
          </a:xfrm>
        </p:spPr>
        <p:txBody>
          <a:bodyPr/>
          <a:lstStyle/>
          <a:p>
            <a:r>
              <a:rPr lang="bg-BG" dirty="0"/>
              <a:t>Съдържа </a:t>
            </a:r>
            <a:r>
              <a:rPr lang="en-US" dirty="0"/>
              <a:t>1 </a:t>
            </a:r>
            <a:r>
              <a:rPr lang="bg-BG" dirty="0"/>
              <a:t>основен файл – </a:t>
            </a:r>
            <a:r>
              <a:rPr lang="en-US" dirty="0"/>
              <a:t>server.js, </a:t>
            </a:r>
            <a:r>
              <a:rPr lang="bg-BG" dirty="0"/>
              <a:t>2 </a:t>
            </a:r>
            <a:r>
              <a:rPr lang="en-US" dirty="0"/>
              <a:t>API route </a:t>
            </a:r>
            <a:r>
              <a:rPr lang="bg-BG" dirty="0"/>
              <a:t>файла – </a:t>
            </a:r>
            <a:r>
              <a:rPr lang="en-US" dirty="0"/>
              <a:t>chat.js </a:t>
            </a:r>
            <a:r>
              <a:rPr lang="bg-BG" dirty="0"/>
              <a:t>и </a:t>
            </a:r>
            <a:r>
              <a:rPr lang="en-US" dirty="0"/>
              <a:t>news.js </a:t>
            </a:r>
            <a:r>
              <a:rPr lang="bg-BG" dirty="0"/>
              <a:t>и 1 </a:t>
            </a:r>
            <a:r>
              <a:rPr lang="en-US" dirty="0" err="1"/>
              <a:t>SchemaModel</a:t>
            </a:r>
            <a:r>
              <a:rPr lang="en-US" dirty="0"/>
              <a:t> </a:t>
            </a:r>
            <a:r>
              <a:rPr lang="bg-BG" dirty="0"/>
              <a:t>файл – </a:t>
            </a:r>
            <a:r>
              <a:rPr lang="en-US" dirty="0"/>
              <a:t>News.js</a:t>
            </a:r>
          </a:p>
          <a:p>
            <a:r>
              <a:rPr lang="bg-BG" dirty="0"/>
              <a:t>Ролята на </a:t>
            </a:r>
            <a:r>
              <a:rPr lang="en-US" dirty="0"/>
              <a:t>backend </a:t>
            </a:r>
            <a:r>
              <a:rPr lang="bg-BG" dirty="0"/>
              <a:t>модула се състои в следните стъпки</a:t>
            </a:r>
            <a:r>
              <a:rPr lang="en-US" dirty="0"/>
              <a:t>:</a:t>
            </a:r>
          </a:p>
          <a:p>
            <a:r>
              <a:rPr lang="bg-BG" dirty="0"/>
              <a:t>Взема се въведеното съобщение от потребителския интерфейс</a:t>
            </a:r>
            <a:r>
              <a:rPr lang="en-US" dirty="0"/>
              <a:t>.</a:t>
            </a:r>
          </a:p>
          <a:p>
            <a:r>
              <a:rPr lang="bg-BG" dirty="0"/>
              <a:t>Анализира се заявката</a:t>
            </a:r>
            <a:r>
              <a:rPr lang="en-US" dirty="0"/>
              <a:t> </a:t>
            </a:r>
            <a:r>
              <a:rPr lang="bg-BG" dirty="0"/>
              <a:t>и се определя</a:t>
            </a:r>
            <a:r>
              <a:rPr lang="en-US" dirty="0"/>
              <a:t> </a:t>
            </a:r>
            <a:r>
              <a:rPr lang="bg-BG" dirty="0"/>
              <a:t>дали има разпозната категория, използвайки зададения набор от ключове и логика</a:t>
            </a:r>
            <a:r>
              <a:rPr lang="en-US" dirty="0"/>
              <a:t>.</a:t>
            </a:r>
          </a:p>
          <a:p>
            <a:r>
              <a:rPr lang="bg-BG" dirty="0"/>
              <a:t>При наличие на категория</a:t>
            </a:r>
            <a:r>
              <a:rPr lang="en-US" dirty="0"/>
              <a:t>/</a:t>
            </a:r>
            <a:r>
              <a:rPr lang="bg-BG" dirty="0"/>
              <a:t>подкатегория се извличат съответните новини от базата данни</a:t>
            </a:r>
            <a:r>
              <a:rPr lang="en-US" dirty="0"/>
              <a:t>. </a:t>
            </a:r>
          </a:p>
          <a:p>
            <a:r>
              <a:rPr lang="bg-BG" dirty="0"/>
              <a:t>При липса на разпозната категория се изкарва подкана</a:t>
            </a:r>
            <a:r>
              <a:rPr lang="en-US" dirty="0"/>
              <a:t>/</a:t>
            </a:r>
            <a:r>
              <a:rPr lang="bg-BG" dirty="0"/>
              <a:t>грешка</a:t>
            </a:r>
            <a:r>
              <a:rPr lang="en-US" dirty="0"/>
              <a:t>.</a:t>
            </a:r>
          </a:p>
          <a:p>
            <a:r>
              <a:rPr lang="bg-BG" dirty="0"/>
              <a:t>Стартира се чрез командата </a:t>
            </a:r>
            <a:r>
              <a:rPr lang="en-US" dirty="0"/>
              <a:t>– </a:t>
            </a:r>
            <a:r>
              <a:rPr lang="en-US" b="1" dirty="0"/>
              <a:t>node server.js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97430-2720-9BE4-10C8-05E7481F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098" y="1791547"/>
            <a:ext cx="2136901" cy="407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0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EC34-C41C-C77A-203F-D98F9D13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F345-53BE-251B-F2FA-AF685D8CC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992620" cy="4135966"/>
          </a:xfrm>
        </p:spPr>
        <p:txBody>
          <a:bodyPr>
            <a:normAutofit/>
          </a:bodyPr>
          <a:lstStyle/>
          <a:p>
            <a:r>
              <a:rPr lang="bg-BG" dirty="0"/>
              <a:t>Състои се основно от</a:t>
            </a:r>
            <a:r>
              <a:rPr lang="en-US" dirty="0"/>
              <a:t> index.html, script.js </a:t>
            </a:r>
            <a:r>
              <a:rPr lang="bg-BG" dirty="0"/>
              <a:t>и </a:t>
            </a:r>
            <a:r>
              <a:rPr lang="en-US" dirty="0"/>
              <a:t>style.css</a:t>
            </a:r>
          </a:p>
          <a:p>
            <a:r>
              <a:rPr lang="en-US" dirty="0"/>
              <a:t>Frontend </a:t>
            </a:r>
            <a:r>
              <a:rPr lang="bg-BG" dirty="0"/>
              <a:t>компонентът изгражда потребителския интерфейс на чатбота, т.е. това, което потребителят вижда и използва</a:t>
            </a:r>
            <a:r>
              <a:rPr lang="en-US" dirty="0"/>
              <a:t> </a:t>
            </a:r>
            <a:r>
              <a:rPr lang="bg-BG" dirty="0"/>
              <a:t>в браузъра</a:t>
            </a:r>
            <a:r>
              <a:rPr lang="en-US" dirty="0"/>
              <a:t>.</a:t>
            </a:r>
          </a:p>
          <a:p>
            <a:r>
              <a:rPr lang="bg-BG" dirty="0"/>
              <a:t>Той изпраща </a:t>
            </a:r>
            <a:r>
              <a:rPr lang="en-US" dirty="0"/>
              <a:t>HTTP POST </a:t>
            </a:r>
            <a:r>
              <a:rPr lang="bg-BG" dirty="0"/>
              <a:t>заявки към </a:t>
            </a:r>
            <a:r>
              <a:rPr lang="en-US" dirty="0"/>
              <a:t>backend API</a:t>
            </a:r>
            <a:r>
              <a:rPr lang="bg-BG" dirty="0"/>
              <a:t>, получава отговор в </a:t>
            </a:r>
            <a:r>
              <a:rPr lang="en-US" dirty="0"/>
              <a:t>JSON </a:t>
            </a:r>
            <a:r>
              <a:rPr lang="bg-BG" dirty="0"/>
              <a:t>формат и визуализира получения отговор</a:t>
            </a:r>
            <a:r>
              <a:rPr lang="en-US" dirty="0"/>
              <a:t>.</a:t>
            </a:r>
          </a:p>
          <a:p>
            <a:r>
              <a:rPr lang="bg-BG" dirty="0"/>
              <a:t>Съдържа приветствено съобщение, кликаемо логото на </a:t>
            </a:r>
            <a:r>
              <a:rPr lang="en-US" dirty="0"/>
              <a:t>razgradnews.net </a:t>
            </a:r>
            <a:r>
              <a:rPr lang="bg-BG" dirty="0"/>
              <a:t>за бързо навигиране към сайта</a:t>
            </a:r>
            <a:r>
              <a:rPr lang="en-US" dirty="0"/>
              <a:t>, </a:t>
            </a:r>
            <a:r>
              <a:rPr lang="bg-BG" dirty="0"/>
              <a:t>поле за писане на потребителско съобщение</a:t>
            </a:r>
            <a:r>
              <a:rPr lang="en-US" dirty="0"/>
              <a:t>, </a:t>
            </a:r>
            <a:r>
              <a:rPr lang="bg-BG" dirty="0"/>
              <a:t>бутон за изпращане на съобщението</a:t>
            </a:r>
            <a:r>
              <a:rPr lang="en-US" dirty="0"/>
              <a:t>, </a:t>
            </a:r>
            <a:r>
              <a:rPr lang="bg-BG" dirty="0"/>
              <a:t>лента за превъртане и индикатор за зареждане на отговора</a:t>
            </a:r>
            <a:r>
              <a:rPr lang="en-US" dirty="0"/>
              <a:t>.</a:t>
            </a:r>
          </a:p>
          <a:p>
            <a:r>
              <a:rPr lang="bg-BG" dirty="0"/>
              <a:t>Отваря се </a:t>
            </a:r>
            <a:r>
              <a:rPr lang="en-US" dirty="0"/>
              <a:t>index.html </a:t>
            </a:r>
            <a:r>
              <a:rPr lang="bg-BG" dirty="0"/>
              <a:t>в уеб браузъра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1CD2F-61EE-CFD6-9CBC-AE87506C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771" y="1797049"/>
            <a:ext cx="2238997" cy="429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35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289E-182E-E0CC-8BCD-7308D027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sz="5400" dirty="0"/>
              <a:t>Благодаря за вниманието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9136-2C4D-DF52-2FE3-E4D5683B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689350"/>
            <a:ext cx="10058400" cy="2179744"/>
          </a:xfrm>
        </p:spPr>
        <p:txBody>
          <a:bodyPr>
            <a:normAutofit/>
          </a:bodyPr>
          <a:lstStyle/>
          <a:p>
            <a:pPr algn="ctr"/>
            <a:r>
              <a:rPr lang="bg-BG" sz="4800" dirty="0"/>
              <a:t>Предстои демонстрация</a:t>
            </a:r>
            <a:r>
              <a:rPr lang="en-US" sz="4800" dirty="0"/>
              <a:t> </a:t>
            </a:r>
            <a:r>
              <a:rPr lang="bg-BG" sz="4800" dirty="0"/>
              <a:t>на чатбота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421520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156</TotalTime>
  <Words>598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PowerPoint Presentation</vt:lpstr>
      <vt:lpstr>Същност и функции на чатбота</vt:lpstr>
      <vt:lpstr>Използвани технологии</vt:lpstr>
      <vt:lpstr>Архитектура на чатбот системата</vt:lpstr>
      <vt:lpstr>Scraper</vt:lpstr>
      <vt:lpstr>Database</vt:lpstr>
      <vt:lpstr>Backend</vt:lpstr>
      <vt:lpstr>Frontend</vt:lpstr>
      <vt:lpstr>Благодаря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Okan</dc:creator>
  <cp:lastModifiedBy>Okan</cp:lastModifiedBy>
  <cp:revision>4</cp:revision>
  <dcterms:created xsi:type="dcterms:W3CDTF">2026-06-30T15:54:41Z</dcterms:created>
  <dcterms:modified xsi:type="dcterms:W3CDTF">2026-07-01T04:27:36Z</dcterms:modified>
</cp:coreProperties>
</file>